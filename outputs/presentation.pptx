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16x9"/>
  <p:notesSz cx="6858000" cy="9144000"/>
  <p:embeddedFontLst>
    <p:embeddedFont>
      <p:font typeface="Inter SemiBold" charset="1"/>
      <p:regular r:id="rId21"/>
    </p:embeddedFont>
    <p:embeddedFont>
      <p:font typeface="Space Grotesk Bold" charset="1"/>
      <p:regular r:id="rId22"/>
    </p:embeddedFont>
    <p:embeddedFont>
      <p:font typeface="Space Grotesk" charset="1"/>
      <p:regular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Aug 2026 flash flood in Rasuwa. Question: where did the ground change, what is exposed, who lost road access to a hospital, using free satellite data only. Educational prototype, not an operational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Inputs: Sentinel-1 GRD VV/VH track asc85, references 16 Aug, 4 Aug, 23 Jul, 11 Jul; post 28 Aug. Copernicus GLO-30 DEM for the HAND valley floor and layover/shadow mask. Planetary Computer RTC route is a cross-check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Surface change on the valley floor, not a validated flood extent. Minimum detectable area for the case study is 0.211 km². Source: docs/REPORT.md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Class-level nulls, ungated, leave-one-out: water-like 0.306 vs 0.014 km²; dark 2.294 vs 0.040; bright 0.542 vs 0.092.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negative-control run in the terminal here. Zero-safe behaviour matters because judges pick their own areas and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446 settlements in total; 141 had no pre-flood road route to a hospital so they are not assessed and never counted as cut off. 18 of 20 hospitals snap to the road network. No cut-off ground truth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the dashboard is read from the JSON outputs; ranges come from thresholds, mask +/-1 px and the bridge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EMS is check-only. EMSR927 has landslide polygons and damage points but no flood-extent layer, so the flood class itself is not validated. Chance = the mask's own blobs relocated at random; CI from 1 km block bootstrap.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92% of OSM buildings are outside the observed valley floor and are UNKNOWN, not clear. Rural Rasuwa is under-mapped in OSM.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Contains modified Copernicus Sentinel data 2026. Produced using Copernicus WorldDEM-30 © DLR e.V. 2010–2014 and © Airbus Defence and Space GmbH 2014–2018 provided under COPERNICUS by the European Union and ESA; all rights reserved. © OpenStreetMap contributors. European Union, Copernicus Emergency Management Service data (EMSR927, checking only). Sen1Floods11 (Bonafilia et al. 2020, CC BY 4.0).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01 /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44970"/>
            <a:ext cx="9352727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74838"/>
            <a:ext cx="9352727" cy="29458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984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Free radar shows where the Trishuli valley floor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578372"/>
            <a:ext cx="9352727" cy="38801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9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Raw Sentinel-1 to exposure and hospital access in Rasuwa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3951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469380"/>
            <a:ext cx="3320288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26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5856" y="523951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5856" y="5469380"/>
            <a:ext cx="3320288" cy="64764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Trishuli / Bhote Koshi, Nepal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3344" y="523951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3344" y="5469380"/>
            <a:ext cx="3320288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SNAP from raw GRD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9812"/>
            <a:ext cx="5437632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GITHUB.COM/MANIKANTH678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3313501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54908" y="3313501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51448" y="3313501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047988" y="3313501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2547"/>
            <a:ext cx="7830190" cy="130926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0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One command runs raw radar through to a sitrep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7058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CALIBRATE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59805"/>
            <a:ext cx="2485644" cy="161910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SNAP: orbit file, noise removal, sigma0, terrain correction on a 30 m grid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4908" y="3047058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4908" y="3459805"/>
            <a:ext cx="2485644" cy="200143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Robust-z change against four same-track pre-event references. Gates come from pre-event null runs, never 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448" y="3047058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3459805"/>
            <a:ext cx="2485644" cy="161910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Pre-event OSM snapshot of 27 Jul 2026 for buildings, roads, bridges and hospitals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7988" y="3047058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7988" y="3459805"/>
            <a:ext cx="2485644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Offline dashboard plus one-page sitreps in English and Nepali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7446"/>
            <a:ext cx="8700211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4BC7D6"/>
                </a:solidFill>
                <a:latin typeface="Space Grotesk Bold"/>
                <a:cs typeface="Space Grotesk Bold"/>
                <a:sym typeface="Space Grotesk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71968"/>
            <a:ext cx="8700211" cy="170204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2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The radar change is real and not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39311"/>
            <a:ext cx="5981395" cy="776021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9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Each class is tested against four pre-event dates before it is reported.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2274338"/>
            <a:ext cx="2540508" cy="3632150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36620" y="2274338"/>
            <a:ext cx="2540508" cy="3632150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14872" y="2274338"/>
            <a:ext cx="2540508" cy="3632150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93124" y="2274338"/>
            <a:ext cx="2540508" cy="3632150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951512"/>
            <a:ext cx="6742664" cy="109105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279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The detector flagged 3.14 km² of valley-floor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30370"/>
            <a:ext cx="2028444" cy="178933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672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3.14 km²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91398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Flagged in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14242"/>
            <a:ext cx="2028444" cy="100071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Status change_detected and calibrated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2652" y="2530370"/>
            <a:ext cx="2028444" cy="178933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672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0.31 km²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2652" y="4191398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Water-like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2652" y="4514242"/>
            <a:ext cx="2028444" cy="100071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Backscatter drop consistent with open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904" y="2530370"/>
            <a:ext cx="2028444" cy="178933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672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2.29 km²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904" y="4191398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Dark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904" y="4514242"/>
            <a:ext cx="2028444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Surface darkening such as debris or wet sediment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49156" y="2530370"/>
            <a:ext cx="2028444" cy="178933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672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0.54 km²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9156" y="4191398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Bright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9156" y="4514242"/>
            <a:ext cx="2028444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Surface brightening such as boulders or rubble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506175" y="2876077"/>
            <a:ext cx="6611722" cy="409875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506175" y="3767110"/>
            <a:ext cx="2420872" cy="409875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506175" y="4658144"/>
            <a:ext cx="673733" cy="409875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06175" y="5549178"/>
            <a:ext cx="342576" cy="409875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495203" y="2635498"/>
            <a:ext cx="10973" cy="3564134"/>
          </a:xfrm>
          <a:prstGeom prst="rect">
            <a:avLst/>
          </a:prstGeom>
          <a:solidFill>
            <a:srgbClr val="8D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05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58368"/>
            <a:ext cx="7177674" cy="109105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279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Every change class clears the three-times null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25162"/>
            <a:ext cx="6090148" cy="62081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557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Event area divided by the largest of four pre-event null areas. A class counts only above 3x.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56169"/>
            <a:ext cx="2610063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Dark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353" y="2956169"/>
            <a:ext cx="1196279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57.9x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847202"/>
            <a:ext cx="2610063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Water-like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353" y="3847202"/>
            <a:ext cx="1196279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21.2x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38236"/>
            <a:ext cx="2610063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Bright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353" y="4738236"/>
            <a:ext cx="1196279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5.9x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629269"/>
            <a:ext cx="2610063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353" y="5629269"/>
            <a:ext cx="1196279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3x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3104852"/>
            <a:ext cx="3466592" cy="1971122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362704" y="3104852"/>
            <a:ext cx="3466592" cy="1971122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067040" y="3104852"/>
            <a:ext cx="3466592" cy="1971122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82026"/>
            <a:ext cx="6742664" cy="109105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279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The detector stays silent where nothing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60884"/>
            <a:ext cx="2954528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Case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83728"/>
            <a:ext cx="2954528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change_detected with 3.14 km² flagged and a 0.211 km² minimum detectable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8736" y="3360884"/>
            <a:ext cx="2954528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Negative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8736" y="3683728"/>
            <a:ext cx="2954528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A pre-event scene returns no_significant_change and zero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3072" y="3360884"/>
            <a:ext cx="2954528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Terai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3072" y="3683728"/>
            <a:ext cx="2954528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Uncalibrated so it reports a 17.37 km² minimum detectable area instead of guessing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02522"/>
            <a:ext cx="8700211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4BC7D6"/>
                </a:solidFill>
                <a:latin typeface="Space Grotesk Bold"/>
                <a:cs typeface="Space Grotesk Bold"/>
                <a:sym typeface="Space Grotesk Bold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97044"/>
            <a:ext cx="8700211" cy="139655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264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Exposure is counted and never declared damage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96408"/>
            <a:ext cx="5981395" cy="776021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9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Bridges are exposed not failed. Ground the radar cannot see stays unknown.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2416365"/>
            <a:ext cx="2540508" cy="3348097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36620" y="2416365"/>
            <a:ext cx="2540508" cy="3348097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14872" y="2416365"/>
            <a:ext cx="2540508" cy="3348097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93124" y="2416365"/>
            <a:ext cx="2540508" cy="3348097"/>
          </a:xfrm>
          <a:prstGeom prst="rect">
            <a:avLst/>
          </a:prstGeom>
          <a:solidFill>
            <a:srgbClr val="17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08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93539"/>
            <a:ext cx="6742664" cy="109105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279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Four settlements lost every road route to a hospital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72397"/>
            <a:ext cx="2028444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556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48631"/>
            <a:ext cx="2028444" cy="5692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Buildings in the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21167"/>
            <a:ext cx="2028444" cy="97146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Range 244 to 1,078 of 189,503 mapped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2652" y="2672397"/>
            <a:ext cx="2028444" cy="178933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427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11.8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2652" y="4333425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Motorable road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2652" y="4656269"/>
            <a:ext cx="2028444" cy="97146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Range 6.4 to 22.0 km inside the mask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904" y="2672397"/>
            <a:ext cx="2028444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904" y="3548631"/>
            <a:ext cx="2028444" cy="28464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Bridges exposed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904" y="3871475"/>
            <a:ext cx="2028444" cy="66714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Of 385 mapped. Range 12 to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49156" y="2672397"/>
            <a:ext cx="2028444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9156" y="3548631"/>
            <a:ext cx="2028444" cy="5692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9097"/>
              </a:lnSpc>
            </a:pPr>
            <a:r>
              <a:rPr sz="1600" b="0">
                <a:solidFill>
                  <a:srgbClr val="DCE6EE"/>
                </a:solidFill>
                <a:latin typeface="Inter SemiBold"/>
                <a:cs typeface="Inter SemiBold"/>
                <a:sym typeface="Inter SemiBold"/>
              </a:rPr>
              <a:t>Settlements cut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9156" y="4121167"/>
            <a:ext cx="2028444" cy="97146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Of 305 assessable. Range 2 to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deckimg-gwre4b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05" y="2541578"/>
            <a:ext cx="5220127" cy="17748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09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22960"/>
            <a:ext cx="4785116" cy="13747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272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The cut-off count holds between 2 and 12 across 18 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38591"/>
            <a:ext cx="4785116" cy="100071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Three thresholds times mask plus or minus one pixel times bridges failing or surviving. Dark bar is the headline.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02522"/>
            <a:ext cx="8700211" cy="89466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400" b="0">
                <a:solidFill>
                  <a:srgbClr val="4BC7D6"/>
                </a:solidFill>
                <a:latin typeface="Space Grotesk Bold"/>
                <a:cs typeface="Space Grotesk Bold"/>
                <a:sym typeface="Space Grotesk Bold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97044"/>
            <a:ext cx="8700211" cy="139655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264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Validation is honest about what it cannot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96408"/>
            <a:ext cx="5981395" cy="776021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9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EMS products are read only for checking and never tune the detector.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3311164"/>
            <a:ext cx="10875264" cy="13716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39551"/>
            <a:ext cx="7830190" cy="196389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0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Detections land on EMS landslides at high precision but low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54878"/>
            <a:ext cx="2028749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EMSR927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3421" y="3054878"/>
            <a:ext cx="2028749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8474" y="3054878"/>
            <a:ext cx="2028749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3526" y="3054878"/>
            <a:ext cx="2028749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IOU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8579" y="3054878"/>
            <a:ext cx="2028749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DAMAGE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57468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Bidur (hold-out)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3421" y="3457468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8474" y="3457468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3526" y="3457468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8579" y="3457468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Chance-level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146925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Phosretar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3421" y="4146925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8474" y="4146925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526" y="4146925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0.24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8579" y="4146925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Chance-level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36383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Syapru Besi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3421" y="4836383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8474" y="4836383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3526" y="4836383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8579" y="4836383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Not scored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525841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Timure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3421" y="5525841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08474" y="5525841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83526" y="5525841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8579" y="5525841"/>
            <a:ext cx="2028749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Not scored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3459805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54908" y="3459805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51448" y="3459805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047988" y="3459805"/>
            <a:ext cx="1043970" cy="18288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8851"/>
            <a:ext cx="7830190" cy="130926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000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Four limits bound what these numbers can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93362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06109"/>
            <a:ext cx="2485644" cy="13342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Planetary Computer RTC is a cross-check only. SNAP is the route of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4908" y="3193362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TERAI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4908" y="3606109"/>
            <a:ext cx="2485644" cy="100071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Uncalibrated with a 17.37 km² minimum detectable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448" y="3193362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3606109"/>
            <a:ext cx="2485644" cy="166786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Himalayan chips are qualitative and unlabelled. Sentinel-2 does not confirm open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7988" y="3193362"/>
            <a:ext cx="2485644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7988" y="3606109"/>
            <a:ext cx="2485644" cy="12952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DCE6EE"/>
                </a:solidFill>
                <a:latin typeface="Space Grotesk"/>
                <a:cs typeface="Space Grotesk"/>
                <a:sym typeface="Space Grotesk"/>
              </a:rPr>
              <a:t>One track and one post scene. No imagery of victims anywhere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6515" cy="6858000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58368" y="1455725"/>
            <a:ext cx="1005840" cy="25603"/>
          </a:xfrm>
          <a:prstGeom prst="rect">
            <a:avLst/>
          </a:prstGeom>
          <a:solidFill>
            <a:srgbClr val="4BC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342351"/>
            <a:ext cx="5437632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TRISHULI-FLOOD-MAPPING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472" y="342351"/>
            <a:ext cx="1280160" cy="1879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7445"/>
              </a:lnSpc>
            </a:pPr>
            <a:r>
              <a:rPr sz="1100" b="0" spc="70">
                <a:solidFill>
                  <a:srgbClr val="8DA0AE"/>
                </a:solidFill>
                <a:latin typeface="Inter SemiBold"/>
                <a:cs typeface="Inter SemiBold"/>
                <a:sym typeface="Inter SemiBold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66621"/>
            <a:ext cx="8047695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TRY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6489"/>
            <a:ext cx="8047695" cy="139655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264" b="0">
                <a:solidFill>
                  <a:srgbClr val="DCE6EE"/>
                </a:solidFill>
                <a:latin typeface="Space Grotesk Bold"/>
                <a:cs typeface="Space Grotesk Bold"/>
                <a:sym typeface="Space Grotesk Bold"/>
              </a:rPr>
              <a:t>Run it on any area and date from the public 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95853"/>
            <a:ext cx="5981395" cy="11300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905"/>
              </a:lnSpc>
            </a:pPr>
            <a:r>
              <a:rPr sz="19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README and docs/REPORT.pdf hold the method and validation. Every input is free and 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8523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515100"/>
            <a:ext cx="3320288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Public GitHub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856" y="528523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856" y="5515100"/>
            <a:ext cx="3320288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Sentinel-1, GLO-30 DEM, OSM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344" y="5285232"/>
            <a:ext cx="3320288" cy="20992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7445"/>
              </a:lnSpc>
            </a:pPr>
            <a:r>
              <a:rPr sz="1100" b="0" spc="70">
                <a:solidFill>
                  <a:srgbClr val="4BC7D6"/>
                </a:solidFill>
                <a:latin typeface="Inter SemiBold"/>
                <a:cs typeface="Inter SemiBold"/>
                <a:sym typeface="Inter SemiBold"/>
              </a:rPr>
              <a:t>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3344" y="5515100"/>
            <a:ext cx="3320288" cy="33357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2734"/>
              </a:lnSpc>
            </a:pPr>
            <a:r>
              <a:rPr sz="1500" b="0">
                <a:solidFill>
                  <a:srgbClr val="8DA0AE"/>
                </a:solidFill>
                <a:latin typeface="Space Grotesk"/>
                <a:cs typeface="Space Grotesk"/>
                <a:sym typeface="Space Grotesk"/>
              </a:rPr>
              <a:t>Copernicus EMS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