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image/jpeg" Extension="jpe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3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10287000" cx="18288000"/>
  <p:notesSz cx="6858000" cy="9144000"/>
  <p:defaultTextStyle>
    <a:defPPr lvl="0">
      <a:defRPr lang="en-US"/>
    </a:defPPr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3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3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3.xml"/><Relationship Id="rId3" Type="http://schemas.openxmlformats.org/officeDocument/2006/relationships/presProps" Target="presProps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14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n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1c62711481ea213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g1c62711481ea2133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14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github.com/MANIKANTH678/trishuli-flood-mapping" TargetMode="External" Type="http://schemas.openxmlformats.org/officeDocument/2006/relationships/hyperlink"/><Relationship Id="rId3" Target="https://github.com/MANIKANTH678/trishuli-flood-mapping" TargetMode="External" Type="http://schemas.openxmlformats.org/officeDocument/2006/relationships/hyperlink"/><Relationship Id="rId4" Target="../media/image23.png" Type="http://schemas.openxmlformats.org/officeDocument/2006/relationships/image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Shaded relief of the Trishuli valley, Rasuwa, Nepal, fading into the dark slide background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5380208" y="494481"/>
            <a:ext cx="1920240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01 / 13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87552" y="2298402"/>
            <a:ext cx="14029087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87552" y="2833707"/>
            <a:ext cx="14029087" cy="4247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31"/>
              </a:lnSpc>
            </a:pPr>
            <a:r>
              <a:rPr lang="en-US" sz="8976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Free radar shows where the Trishuli valley floor changed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87552" y="6810404"/>
            <a:ext cx="14029087" cy="6391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8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Raw Sentinel-1 to exposure and hospital access in Rasuwa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7552" y="7840218"/>
            <a:ext cx="4980432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EVENT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87552" y="8108823"/>
            <a:ext cx="4980432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26 Aug 2026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653784" y="7840218"/>
            <a:ext cx="4980432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AREA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653784" y="8108823"/>
            <a:ext cx="4980432" cy="1066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Trishuli / Bhote Koshi, Nepal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320016" y="7840218"/>
            <a:ext cx="4980432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ROUTE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320016" y="8108823"/>
            <a:ext cx="4980432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SNAP from raw GRD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7552" y="9655664"/>
            <a:ext cx="8156448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GITHUB.COM/MANIKANTH678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299999" y="9655664"/>
            <a:ext cx="9000449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HILLSHADE: COPERNICUS WORLDDEM-30 © DLR/AIRBUS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327082" y="1215314"/>
            <a:ext cx="6241609" cy="7520016"/>
            <a:chOff x="0" y="0"/>
            <a:chExt cx="8322145" cy="1002668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322183" cy="10026650"/>
            </a:xfrm>
            <a:custGeom>
              <a:avLst/>
              <a:gdLst/>
              <a:ahLst/>
              <a:cxnLst/>
              <a:rect r="r" b="b" t="t" l="l"/>
              <a:pathLst>
                <a:path h="10026650" w="8322183">
                  <a:moveTo>
                    <a:pt x="0" y="0"/>
                  </a:moveTo>
                  <a:lnTo>
                    <a:pt x="8322183" y="0"/>
                  </a:lnTo>
                  <a:lnTo>
                    <a:pt x="8322183" y="10026650"/>
                  </a:lnTo>
                  <a:lnTo>
                    <a:pt x="0" y="100266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50" t="0" r="-150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87552" y="494481"/>
            <a:ext cx="8156448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80208" y="494481"/>
            <a:ext cx="1920240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03 / 13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6168409"/>
            <a:ext cx="11584334" cy="4835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8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Each class is tested against four pre-event dates before it is reported.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71966" y="3805838"/>
            <a:ext cx="13050317" cy="2419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82"/>
              </a:lnSpc>
            </a:pPr>
            <a:r>
              <a:rPr lang="en-US" sz="7800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The radar change is real and not noise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171824" y="3300089"/>
            <a:ext cx="5522062" cy="5522062"/>
            <a:chOff x="0" y="0"/>
            <a:chExt cx="7362749" cy="73627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62698" cy="7362698"/>
            </a:xfrm>
            <a:custGeom>
              <a:avLst/>
              <a:gdLst/>
              <a:ahLst/>
              <a:cxnLst/>
              <a:rect r="r" b="b" t="t" l="l"/>
              <a:pathLst>
                <a:path h="7362698" w="7362698">
                  <a:moveTo>
                    <a:pt x="0" y="0"/>
                  </a:moveTo>
                  <a:lnTo>
                    <a:pt x="7362698" y="0"/>
                  </a:lnTo>
                  <a:lnTo>
                    <a:pt x="7362698" y="7362698"/>
                  </a:lnTo>
                  <a:lnTo>
                    <a:pt x="0" y="73626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891865" y="3300089"/>
            <a:ext cx="5758644" cy="5522062"/>
            <a:chOff x="0" y="0"/>
            <a:chExt cx="7678191" cy="73627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678166" cy="7362698"/>
            </a:xfrm>
            <a:custGeom>
              <a:avLst/>
              <a:gdLst/>
              <a:ahLst/>
              <a:cxnLst/>
              <a:rect r="r" b="b" t="t" l="l"/>
              <a:pathLst>
                <a:path h="7362698" w="7678166">
                  <a:moveTo>
                    <a:pt x="0" y="0"/>
                  </a:moveTo>
                  <a:lnTo>
                    <a:pt x="7678166" y="0"/>
                  </a:lnTo>
                  <a:lnTo>
                    <a:pt x="7678166" y="7362698"/>
                  </a:lnTo>
                  <a:lnTo>
                    <a:pt x="0" y="73626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142" r="0" b="-2142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87552" y="494481"/>
            <a:ext cx="8156448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380208" y="494481"/>
            <a:ext cx="1920240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04 / 13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02751" y="1079478"/>
            <a:ext cx="10113997" cy="1324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3"/>
              </a:lnSpc>
            </a:pPr>
            <a:r>
              <a:rPr lang="en-US" sz="4917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The detector flagged 3.14 km² of valley-floor change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71824" y="9430474"/>
            <a:ext cx="13478685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8"/>
              </a:lnSpc>
            </a:pPr>
            <a:r>
              <a:rPr lang="en-US" sz="1650" spc="10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Detected area in this crop: 0.43 km².</a:t>
            </a:r>
          </a:p>
          <a:p>
            <a:pPr algn="ctr">
              <a:lnSpc>
                <a:spcPts val="1928"/>
              </a:lnSpc>
            </a:pPr>
            <a:r>
              <a:rPr lang="en-US" sz="1650" spc="10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Whole valley floor: water-like 0.31 km², dark change 2.29 km², bright change 0.54 km².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932852" y="2703119"/>
            <a:ext cx="4000005" cy="273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8"/>
              </a:lnSpc>
            </a:pPr>
            <a:r>
              <a:rPr lang="en-US" sz="1650" spc="10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Pre-event (16 Aug 2026)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771184" y="2703119"/>
            <a:ext cx="4000005" cy="273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8"/>
              </a:lnSpc>
            </a:pPr>
            <a:r>
              <a:rPr lang="en-US" sz="1650" spc="10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Post-event (28 Aug 2026)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185716" y="9085717"/>
            <a:ext cx="448570" cy="168573"/>
            <a:chOff x="0" y="0"/>
            <a:chExt cx="598094" cy="22476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98043" cy="224790"/>
            </a:xfrm>
            <a:custGeom>
              <a:avLst/>
              <a:gdLst/>
              <a:ahLst/>
              <a:cxnLst/>
              <a:rect r="r" b="b" t="t" l="l"/>
              <a:pathLst>
                <a:path h="224790" w="598043">
                  <a:moveTo>
                    <a:pt x="0" y="0"/>
                  </a:moveTo>
                  <a:lnTo>
                    <a:pt x="598043" y="0"/>
                  </a:lnTo>
                  <a:lnTo>
                    <a:pt x="598043" y="224790"/>
                  </a:lnTo>
                  <a:lnTo>
                    <a:pt x="0" y="2247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49" r="-8" b="-1837"/>
              </a:stretch>
            </a:blipFill>
            <a:ln w="2857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6759997" y="9050474"/>
            <a:ext cx="2600001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Dark change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485709" y="9085717"/>
            <a:ext cx="448570" cy="168573"/>
            <a:chOff x="0" y="0"/>
            <a:chExt cx="598094" cy="22476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98043" cy="224790"/>
            </a:xfrm>
            <a:custGeom>
              <a:avLst/>
              <a:gdLst/>
              <a:ahLst/>
              <a:cxnLst/>
              <a:rect r="r" b="b" t="t" l="l"/>
              <a:pathLst>
                <a:path h="224790" w="598043">
                  <a:moveTo>
                    <a:pt x="0" y="0"/>
                  </a:moveTo>
                  <a:lnTo>
                    <a:pt x="598043" y="0"/>
                  </a:lnTo>
                  <a:lnTo>
                    <a:pt x="598043" y="224790"/>
                  </a:lnTo>
                  <a:lnTo>
                    <a:pt x="0" y="2247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49" r="-8" b="-1837"/>
              </a:stretch>
            </a:blipFill>
            <a:ln w="2857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0060000" y="9050474"/>
            <a:ext cx="2600001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Bright change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2321824" y="8232153"/>
            <a:ext cx="2060686" cy="449999"/>
            <a:chOff x="0" y="0"/>
            <a:chExt cx="2747582" cy="59999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747518" cy="599948"/>
            </a:xfrm>
            <a:custGeom>
              <a:avLst/>
              <a:gdLst/>
              <a:ahLst/>
              <a:cxnLst/>
              <a:rect r="r" b="b" t="t" l="l"/>
              <a:pathLst>
                <a:path h="599948" w="2747518">
                  <a:moveTo>
                    <a:pt x="0" y="149987"/>
                  </a:moveTo>
                  <a:cubicBezTo>
                    <a:pt x="0" y="67183"/>
                    <a:pt x="67183" y="0"/>
                    <a:pt x="149987" y="0"/>
                  </a:cubicBezTo>
                  <a:lnTo>
                    <a:pt x="2597531" y="0"/>
                  </a:lnTo>
                  <a:cubicBezTo>
                    <a:pt x="2680335" y="0"/>
                    <a:pt x="2747518" y="67183"/>
                    <a:pt x="2747518" y="149987"/>
                  </a:cubicBezTo>
                  <a:lnTo>
                    <a:pt x="2747518" y="449961"/>
                  </a:lnTo>
                  <a:cubicBezTo>
                    <a:pt x="2747518" y="532765"/>
                    <a:pt x="2680335" y="599948"/>
                    <a:pt x="2597531" y="599948"/>
                  </a:cubicBezTo>
                  <a:lnTo>
                    <a:pt x="149987" y="599948"/>
                  </a:lnTo>
                  <a:cubicBezTo>
                    <a:pt x="67183" y="599948"/>
                    <a:pt x="0" y="532892"/>
                    <a:pt x="0" y="449961"/>
                  </a:cubicBezTo>
                  <a:close/>
                </a:path>
              </a:pathLst>
            </a:custGeom>
            <a:solidFill>
              <a:srgbClr val="0C1620">
                <a:alpha val="51765"/>
              </a:srgbClr>
            </a:solidFill>
          </p:spPr>
        </p:sp>
      </p:grpSp>
      <p:sp>
        <p:nvSpPr>
          <p:cNvPr name="AutoShape 22" id="22"/>
          <p:cNvSpPr/>
          <p:nvPr/>
        </p:nvSpPr>
        <p:spPr>
          <a:xfrm rot="69720">
            <a:off x="2412578" y="8547868"/>
            <a:ext cx="1879178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 rot="4876140">
            <a:off x="2348151" y="8552631"/>
            <a:ext cx="167335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 rot="4876140">
            <a:off x="4188838" y="8552631"/>
            <a:ext cx="167335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5" id="25"/>
          <p:cNvSpPr txBox="true"/>
          <p:nvPr/>
        </p:nvSpPr>
        <p:spPr>
          <a:xfrm rot="0">
            <a:off x="2431818" y="8262156"/>
            <a:ext cx="1840687" cy="23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9"/>
              </a:lnSpc>
            </a:pPr>
            <a:r>
              <a:rPr lang="en-US" sz="1299" spc="104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 km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259267" y="4314120"/>
            <a:ext cx="9917620" cy="614839"/>
            <a:chOff x="0" y="0"/>
            <a:chExt cx="13223494" cy="81978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223494" cy="819785"/>
            </a:xfrm>
            <a:custGeom>
              <a:avLst/>
              <a:gdLst/>
              <a:ahLst/>
              <a:cxnLst/>
              <a:rect r="r" b="b" t="t" l="l"/>
              <a:pathLst>
                <a:path h="819785" w="13223494">
                  <a:moveTo>
                    <a:pt x="0" y="0"/>
                  </a:moveTo>
                  <a:lnTo>
                    <a:pt x="13223494" y="0"/>
                  </a:lnTo>
                  <a:lnTo>
                    <a:pt x="13223494" y="819785"/>
                  </a:lnTo>
                  <a:lnTo>
                    <a:pt x="0" y="819785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259267" y="5650668"/>
            <a:ext cx="3631311" cy="614839"/>
            <a:chOff x="0" y="0"/>
            <a:chExt cx="4841748" cy="81978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41748" cy="819785"/>
            </a:xfrm>
            <a:custGeom>
              <a:avLst/>
              <a:gdLst/>
              <a:ahLst/>
              <a:cxnLst/>
              <a:rect r="r" b="b" t="t" l="l"/>
              <a:pathLst>
                <a:path h="819785" w="4841748">
                  <a:moveTo>
                    <a:pt x="0" y="0"/>
                  </a:moveTo>
                  <a:lnTo>
                    <a:pt x="4841748" y="0"/>
                  </a:lnTo>
                  <a:lnTo>
                    <a:pt x="4841748" y="819785"/>
                  </a:lnTo>
                  <a:lnTo>
                    <a:pt x="0" y="819785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5259267" y="6987216"/>
            <a:ext cx="1010602" cy="614839"/>
            <a:chOff x="0" y="0"/>
            <a:chExt cx="1347470" cy="81978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47470" cy="819785"/>
            </a:xfrm>
            <a:custGeom>
              <a:avLst/>
              <a:gdLst/>
              <a:ahLst/>
              <a:cxnLst/>
              <a:rect r="r" b="b" t="t" l="l"/>
              <a:pathLst>
                <a:path h="819785" w="1347470">
                  <a:moveTo>
                    <a:pt x="0" y="0"/>
                  </a:moveTo>
                  <a:lnTo>
                    <a:pt x="1347470" y="0"/>
                  </a:lnTo>
                  <a:lnTo>
                    <a:pt x="1347470" y="819785"/>
                  </a:lnTo>
                  <a:lnTo>
                    <a:pt x="0" y="819785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5242808" y="3953246"/>
            <a:ext cx="16478" cy="5346192"/>
            <a:chOff x="0" y="0"/>
            <a:chExt cx="21971" cy="712825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71" cy="7128256"/>
            </a:xfrm>
            <a:custGeom>
              <a:avLst/>
              <a:gdLst/>
              <a:ahLst/>
              <a:cxnLst/>
              <a:rect r="r" b="b" t="t" l="l"/>
              <a:pathLst>
                <a:path h="7128256" w="21971">
                  <a:moveTo>
                    <a:pt x="0" y="0"/>
                  </a:moveTo>
                  <a:lnTo>
                    <a:pt x="21971" y="0"/>
                  </a:lnTo>
                  <a:lnTo>
                    <a:pt x="21971" y="7128256"/>
                  </a:lnTo>
                  <a:lnTo>
                    <a:pt x="0" y="7128256"/>
                  </a:lnTo>
                  <a:close/>
                </a:path>
              </a:pathLst>
            </a:custGeom>
            <a:solidFill>
              <a:srgbClr val="8DA0AE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87552" y="494481"/>
            <a:ext cx="8156448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380208" y="494481"/>
            <a:ext cx="1920240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05 / 13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7552" y="1063752"/>
            <a:ext cx="10766508" cy="15603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3"/>
              </a:lnSpc>
            </a:pPr>
            <a:r>
              <a:rPr lang="en-US" sz="4917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Every change class clears the three-times null rule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87552" y="2530592"/>
            <a:ext cx="9135218" cy="7826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</a:pPr>
            <a:r>
              <a:rPr lang="en-US" sz="2334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Event area divided by the largest of four pre-event null areas. A class counts only above 3x.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87552" y="4434249"/>
            <a:ext cx="3915099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Dark change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5506033" y="4434249"/>
            <a:ext cx="1794415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57.9x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87552" y="5770807"/>
            <a:ext cx="3915099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Water-like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5506033" y="5770807"/>
            <a:ext cx="1794415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21.2x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87552" y="7107355"/>
            <a:ext cx="3915099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Bright change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5506033" y="7107355"/>
            <a:ext cx="1794415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5.9x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87552" y="8443903"/>
            <a:ext cx="3915099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Rule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5506033" y="8443903"/>
            <a:ext cx="1794415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3x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28700" y="9242298"/>
            <a:ext cx="9221629" cy="789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65"/>
              </a:lnSpc>
            </a:pPr>
            <a:r>
              <a:rPr lang="en-US" sz="2357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All detected classes exceed the 3x null rule.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5259267" y="8323774"/>
            <a:ext cx="513864" cy="614810"/>
            <a:chOff x="0" y="0"/>
            <a:chExt cx="685152" cy="819747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5165" cy="819785"/>
            </a:xfrm>
            <a:custGeom>
              <a:avLst/>
              <a:gdLst/>
              <a:ahLst/>
              <a:cxnLst/>
              <a:rect r="r" b="b" t="t" l="l"/>
              <a:pathLst>
                <a:path h="819785" w="685165">
                  <a:moveTo>
                    <a:pt x="0" y="0"/>
                  </a:moveTo>
                  <a:lnTo>
                    <a:pt x="685165" y="0"/>
                  </a:lnTo>
                  <a:lnTo>
                    <a:pt x="685165" y="819785"/>
                  </a:lnTo>
                  <a:lnTo>
                    <a:pt x="0" y="819785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sp>
        <p:nvSpPr>
          <p:cNvPr name="AutoShape 27" id="27"/>
          <p:cNvSpPr/>
          <p:nvPr/>
        </p:nvSpPr>
        <p:spPr>
          <a:xfrm rot="5386320">
            <a:off x="3384299" y="6549761"/>
            <a:ext cx="4777664" cy="0"/>
          </a:xfrm>
          <a:prstGeom prst="line">
            <a:avLst/>
          </a:prstGeom>
          <a:ln cap="rnd" w="19050">
            <a:solidFill>
              <a:srgbClr val="DCE6EE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987552" y="494481"/>
            <a:ext cx="8156448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380208" y="494481"/>
            <a:ext cx="1920240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06 / 13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87552" y="1063752"/>
            <a:ext cx="16312896" cy="667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3"/>
              </a:lnSpc>
            </a:pPr>
            <a:r>
              <a:rPr lang="en-US" sz="4917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Same crop, same settings: the event lights up, the null pair stays dark.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301385" y="3300003"/>
            <a:ext cx="4750003" cy="4750003"/>
            <a:chOff x="0" y="0"/>
            <a:chExt cx="6333338" cy="6333338"/>
          </a:xfrm>
        </p:grpSpPr>
        <p:sp>
          <p:nvSpPr>
            <p:cNvPr name="Freeform 8" id="8" descr="step3_map_event.png"/>
            <p:cNvSpPr/>
            <p:nvPr/>
          </p:nvSpPr>
          <p:spPr>
            <a:xfrm flipH="false" flipV="false" rot="0">
              <a:off x="0" y="0"/>
              <a:ext cx="6333363" cy="6333363"/>
            </a:xfrm>
            <a:custGeom>
              <a:avLst/>
              <a:gdLst/>
              <a:ahLst/>
              <a:cxnLst/>
              <a:rect r="r" b="b" t="t" l="l"/>
              <a:pathLst>
                <a:path h="6333363" w="6333363">
                  <a:moveTo>
                    <a:pt x="0" y="0"/>
                  </a:moveTo>
                  <a:lnTo>
                    <a:pt x="6333363" y="0"/>
                  </a:lnTo>
                  <a:lnTo>
                    <a:pt x="6333363" y="6333363"/>
                  </a:lnTo>
                  <a:lnTo>
                    <a:pt x="0" y="63333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1760" t="-115941" r="-141201" b="-102072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651387" y="3300003"/>
            <a:ext cx="4750003" cy="4750003"/>
            <a:chOff x="0" y="0"/>
            <a:chExt cx="6333338" cy="6333338"/>
          </a:xfrm>
        </p:grpSpPr>
        <p:sp>
          <p:nvSpPr>
            <p:cNvPr name="Freeform 10" id="10" descr="step3_map_placebo.png"/>
            <p:cNvSpPr/>
            <p:nvPr/>
          </p:nvSpPr>
          <p:spPr>
            <a:xfrm flipH="false" flipV="false" rot="0">
              <a:off x="0" y="0"/>
              <a:ext cx="6333363" cy="6333363"/>
            </a:xfrm>
            <a:custGeom>
              <a:avLst/>
              <a:gdLst/>
              <a:ahLst/>
              <a:cxnLst/>
              <a:rect r="r" b="b" t="t" l="l"/>
              <a:pathLst>
                <a:path h="6333363" w="6333363">
                  <a:moveTo>
                    <a:pt x="0" y="0"/>
                  </a:moveTo>
                  <a:lnTo>
                    <a:pt x="6333363" y="0"/>
                  </a:lnTo>
                  <a:lnTo>
                    <a:pt x="6333363" y="6333363"/>
                  </a:lnTo>
                  <a:lnTo>
                    <a:pt x="0" y="63333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1760" t="-115941" r="-141201" b="-102072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4301385" y="2799998"/>
            <a:ext cx="4750003" cy="380000"/>
            <a:chOff x="0" y="0"/>
            <a:chExt cx="6333338" cy="50666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333236" cy="506603"/>
            </a:xfrm>
            <a:custGeom>
              <a:avLst/>
              <a:gdLst/>
              <a:ahLst/>
              <a:cxnLst/>
              <a:rect r="r" b="b" t="t" l="l"/>
              <a:pathLst>
                <a:path h="506603" w="6333236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lnTo>
                    <a:pt x="6206617" y="0"/>
                  </a:lnTo>
                  <a:cubicBezTo>
                    <a:pt x="6276594" y="0"/>
                    <a:pt x="6333236" y="56769"/>
                    <a:pt x="6333236" y="126619"/>
                  </a:cubicBezTo>
                  <a:lnTo>
                    <a:pt x="6333236" y="379984"/>
                  </a:lnTo>
                  <a:cubicBezTo>
                    <a:pt x="6333236" y="449961"/>
                    <a:pt x="6276467" y="506603"/>
                    <a:pt x="6206617" y="506603"/>
                  </a:cubicBezTo>
                  <a:lnTo>
                    <a:pt x="126619" y="506603"/>
                  </a:lnTo>
                  <a:cubicBezTo>
                    <a:pt x="56769" y="506730"/>
                    <a:pt x="0" y="449961"/>
                    <a:pt x="0" y="379984"/>
                  </a:cubicBezTo>
                  <a:close/>
                </a:path>
              </a:pathLst>
            </a:custGeom>
            <a:solidFill>
              <a:srgbClr val="293139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4301385" y="2850471"/>
            <a:ext cx="4750003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spc="105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Event pair: 16 Aug 2026 → 28 Aug 2026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651387" y="2799998"/>
            <a:ext cx="4750003" cy="380000"/>
            <a:chOff x="0" y="0"/>
            <a:chExt cx="6333338" cy="50666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33236" cy="506603"/>
            </a:xfrm>
            <a:custGeom>
              <a:avLst/>
              <a:gdLst/>
              <a:ahLst/>
              <a:cxnLst/>
              <a:rect r="r" b="b" t="t" l="l"/>
              <a:pathLst>
                <a:path h="506603" w="6333236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lnTo>
                    <a:pt x="6206617" y="0"/>
                  </a:lnTo>
                  <a:cubicBezTo>
                    <a:pt x="6276594" y="0"/>
                    <a:pt x="6333236" y="56769"/>
                    <a:pt x="6333236" y="126619"/>
                  </a:cubicBezTo>
                  <a:lnTo>
                    <a:pt x="6333236" y="379984"/>
                  </a:lnTo>
                  <a:cubicBezTo>
                    <a:pt x="6333236" y="449961"/>
                    <a:pt x="6276467" y="506603"/>
                    <a:pt x="6206617" y="506603"/>
                  </a:cubicBezTo>
                  <a:lnTo>
                    <a:pt x="126619" y="506603"/>
                  </a:lnTo>
                  <a:cubicBezTo>
                    <a:pt x="56769" y="506730"/>
                    <a:pt x="0" y="449961"/>
                    <a:pt x="0" y="379984"/>
                  </a:cubicBezTo>
                  <a:close/>
                </a:path>
              </a:pathLst>
            </a:custGeom>
            <a:solidFill>
              <a:srgbClr val="293139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9651387" y="2850471"/>
            <a:ext cx="4750003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spc="105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Null pair: 4 Aug 2026 → 16 Aug 2026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4301385" y="8289998"/>
            <a:ext cx="170002" cy="170002"/>
            <a:chOff x="0" y="0"/>
            <a:chExt cx="226670" cy="22667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6695" cy="226695"/>
            </a:xfrm>
            <a:custGeom>
              <a:avLst/>
              <a:gdLst/>
              <a:ahLst/>
              <a:cxnLst/>
              <a:rect r="r" b="b" t="t" l="l"/>
              <a:pathLst>
                <a:path h="226695" w="226695">
                  <a:moveTo>
                    <a:pt x="0" y="0"/>
                  </a:moveTo>
                  <a:lnTo>
                    <a:pt x="226695" y="0"/>
                  </a:lnTo>
                  <a:lnTo>
                    <a:pt x="226695" y="226695"/>
                  </a:lnTo>
                  <a:lnTo>
                    <a:pt x="0" y="226695"/>
                  </a:lnTo>
                  <a:close/>
                </a:path>
              </a:pathLst>
            </a:custGeom>
            <a:solidFill>
              <a:srgbClr val="2166AC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4561389" y="8240001"/>
            <a:ext cx="3200000" cy="254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spc="105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Darker after (z to −6)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7801385" y="8289998"/>
            <a:ext cx="170002" cy="170002"/>
            <a:chOff x="0" y="0"/>
            <a:chExt cx="226670" cy="22667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6695" cy="226695"/>
            </a:xfrm>
            <a:custGeom>
              <a:avLst/>
              <a:gdLst/>
              <a:ahLst/>
              <a:cxnLst/>
              <a:rect r="r" b="b" t="t" l="l"/>
              <a:pathLst>
                <a:path h="226695" w="226695">
                  <a:moveTo>
                    <a:pt x="0" y="0"/>
                  </a:moveTo>
                  <a:lnTo>
                    <a:pt x="226695" y="0"/>
                  </a:lnTo>
                  <a:lnTo>
                    <a:pt x="226695" y="226695"/>
                  </a:lnTo>
                  <a:lnTo>
                    <a:pt x="0" y="226695"/>
                  </a:lnTo>
                  <a:close/>
                </a:path>
              </a:pathLst>
            </a:custGeom>
            <a:solidFill>
              <a:srgbClr val="B2182B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8061388" y="8240001"/>
            <a:ext cx="3200000" cy="254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spc="105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Brighter after (z to +6)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1301384" y="8289998"/>
            <a:ext cx="170002" cy="170002"/>
            <a:chOff x="0" y="0"/>
            <a:chExt cx="226670" cy="2266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6695" cy="226695"/>
            </a:xfrm>
            <a:custGeom>
              <a:avLst/>
              <a:gdLst/>
              <a:ahLst/>
              <a:cxnLst/>
              <a:rect r="r" b="b" t="t" l="l"/>
              <a:pathLst>
                <a:path h="226695" w="226695">
                  <a:moveTo>
                    <a:pt x="0" y="0"/>
                  </a:moveTo>
                  <a:lnTo>
                    <a:pt x="226695" y="0"/>
                  </a:lnTo>
                  <a:lnTo>
                    <a:pt x="226695" y="226695"/>
                  </a:lnTo>
                  <a:lnTo>
                    <a:pt x="0" y="226695"/>
                  </a:lnTo>
                  <a:close/>
                </a:path>
              </a:pathLst>
            </a:custGeom>
            <a:solidFill>
              <a:srgbClr val="E8E84A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1561388" y="8240001"/>
            <a:ext cx="3200000" cy="254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spc="105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Radar cannot see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301385" y="8570004"/>
            <a:ext cx="10099996" cy="254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spc="104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Colour = z-score of VV backscatter change on the valley floor, over hillshade.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301385" y="8990476"/>
            <a:ext cx="10099996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spc="10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Detected area in this crop: 0.43 km² (event pair) vs &lt;0.01 km² (null pair).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301385" y="9419996"/>
            <a:ext cx="10099996" cy="199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"/>
              </a:lnSpc>
            </a:pPr>
            <a:r>
              <a:rPr lang="en-US" sz="999" spc="104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Contains modified Copernicus Sentinel data 2026 | Copernicus WorldDEM-30 © DLR/Airbus | © OpenStreetMap contributors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4451385" y="7459999"/>
            <a:ext cx="1803330" cy="449999"/>
            <a:chOff x="0" y="0"/>
            <a:chExt cx="2404440" cy="59999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404364" cy="599948"/>
            </a:xfrm>
            <a:custGeom>
              <a:avLst/>
              <a:gdLst/>
              <a:ahLst/>
              <a:cxnLst/>
              <a:rect r="r" b="b" t="t" l="l"/>
              <a:pathLst>
                <a:path h="599948" w="2404364">
                  <a:moveTo>
                    <a:pt x="0" y="149987"/>
                  </a:moveTo>
                  <a:cubicBezTo>
                    <a:pt x="0" y="67183"/>
                    <a:pt x="67183" y="0"/>
                    <a:pt x="149987" y="0"/>
                  </a:cubicBezTo>
                  <a:lnTo>
                    <a:pt x="2254377" y="0"/>
                  </a:lnTo>
                  <a:cubicBezTo>
                    <a:pt x="2337181" y="0"/>
                    <a:pt x="2404364" y="67183"/>
                    <a:pt x="2404364" y="149987"/>
                  </a:cubicBezTo>
                  <a:lnTo>
                    <a:pt x="2404364" y="449961"/>
                  </a:lnTo>
                  <a:cubicBezTo>
                    <a:pt x="2404364" y="532765"/>
                    <a:pt x="2337181" y="599948"/>
                    <a:pt x="2254377" y="599948"/>
                  </a:cubicBezTo>
                  <a:lnTo>
                    <a:pt x="149987" y="599948"/>
                  </a:lnTo>
                  <a:cubicBezTo>
                    <a:pt x="67183" y="599948"/>
                    <a:pt x="0" y="532892"/>
                    <a:pt x="0" y="449961"/>
                  </a:cubicBezTo>
                  <a:close/>
                </a:path>
              </a:pathLst>
            </a:custGeom>
            <a:solidFill>
              <a:srgbClr val="0C1620">
                <a:alpha val="51765"/>
              </a:srgbClr>
            </a:solidFill>
          </p:spPr>
        </p:sp>
      </p:grpSp>
      <p:sp>
        <p:nvSpPr>
          <p:cNvPr name="AutoShape 31" id="31"/>
          <p:cNvSpPr/>
          <p:nvPr/>
        </p:nvSpPr>
        <p:spPr>
          <a:xfrm rot="80760">
            <a:off x="4542111" y="7775715"/>
            <a:ext cx="1621879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 rot="4876140">
            <a:off x="4477722" y="7780477"/>
            <a:ext cx="167335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 rot="4876140">
            <a:off x="6061053" y="7780477"/>
            <a:ext cx="167335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4" id="34"/>
          <p:cNvSpPr txBox="true"/>
          <p:nvPr/>
        </p:nvSpPr>
        <p:spPr>
          <a:xfrm rot="0">
            <a:off x="4561389" y="7490003"/>
            <a:ext cx="1583331" cy="23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9"/>
              </a:lnSpc>
            </a:pPr>
            <a:r>
              <a:rPr lang="en-US" sz="1299" spc="104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 km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87552" y="4657277"/>
            <a:ext cx="5199888" cy="2956655"/>
            <a:chOff x="0" y="0"/>
            <a:chExt cx="6933184" cy="394220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933184" cy="3942207"/>
            </a:xfrm>
            <a:custGeom>
              <a:avLst/>
              <a:gdLst/>
              <a:ahLst/>
              <a:cxnLst/>
              <a:rect r="r" b="b" t="t" l="l"/>
              <a:pathLst>
                <a:path h="3942207" w="6933184">
                  <a:moveTo>
                    <a:pt x="0" y="0"/>
                  </a:moveTo>
                  <a:lnTo>
                    <a:pt x="6933184" y="0"/>
                  </a:lnTo>
                  <a:lnTo>
                    <a:pt x="6933184" y="3942207"/>
                  </a:lnTo>
                  <a:lnTo>
                    <a:pt x="0" y="3942207"/>
                  </a:lnTo>
                  <a:close/>
                </a:path>
              </a:pathLst>
            </a:custGeom>
            <a:solidFill>
              <a:srgbClr val="17212B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544056" y="4657277"/>
            <a:ext cx="5199888" cy="2956655"/>
            <a:chOff x="0" y="0"/>
            <a:chExt cx="6933184" cy="394220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933184" cy="3942207"/>
            </a:xfrm>
            <a:custGeom>
              <a:avLst/>
              <a:gdLst/>
              <a:ahLst/>
              <a:cxnLst/>
              <a:rect r="r" b="b" t="t" l="l"/>
              <a:pathLst>
                <a:path h="3942207" w="6933184">
                  <a:moveTo>
                    <a:pt x="0" y="0"/>
                  </a:moveTo>
                  <a:lnTo>
                    <a:pt x="6933184" y="0"/>
                  </a:lnTo>
                  <a:lnTo>
                    <a:pt x="6933184" y="3942207"/>
                  </a:lnTo>
                  <a:lnTo>
                    <a:pt x="0" y="3942207"/>
                  </a:lnTo>
                  <a:close/>
                </a:path>
              </a:pathLst>
            </a:custGeom>
            <a:solidFill>
              <a:srgbClr val="17212B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100560" y="4657277"/>
            <a:ext cx="5199888" cy="2956655"/>
            <a:chOff x="0" y="0"/>
            <a:chExt cx="6933184" cy="394220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933184" cy="3942207"/>
            </a:xfrm>
            <a:custGeom>
              <a:avLst/>
              <a:gdLst/>
              <a:ahLst/>
              <a:cxnLst/>
              <a:rect r="r" b="b" t="t" l="l"/>
              <a:pathLst>
                <a:path h="3942207" w="6933184">
                  <a:moveTo>
                    <a:pt x="0" y="0"/>
                  </a:moveTo>
                  <a:lnTo>
                    <a:pt x="6933184" y="0"/>
                  </a:lnTo>
                  <a:lnTo>
                    <a:pt x="6933184" y="3942207"/>
                  </a:lnTo>
                  <a:lnTo>
                    <a:pt x="0" y="3942207"/>
                  </a:lnTo>
                  <a:close/>
                </a:path>
              </a:pathLst>
            </a:custGeom>
            <a:solidFill>
              <a:srgbClr val="17212B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987552" y="494481"/>
            <a:ext cx="8156448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380208" y="494481"/>
            <a:ext cx="1920240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07 / 13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71600" y="5041325"/>
            <a:ext cx="4431792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Case study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71600" y="5430345"/>
            <a:ext cx="4431792" cy="2038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change_detected with 3.14 km² flagged and a 0.211 km² minimum detectable area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928104" y="5041325"/>
            <a:ext cx="4431792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Negative control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928104" y="5430345"/>
            <a:ext cx="4431792" cy="2038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A pre-event scene returns no_significant_change and zero area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484608" y="5041325"/>
            <a:ext cx="4431792" cy="426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3"/>
              </a:lnSpc>
            </a:pPr>
            <a:r>
              <a:rPr lang="en-US" sz="2400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Terai test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484608" y="5430345"/>
            <a:ext cx="4431792" cy="2038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Uncalibrated so it reports a 17.37 km² minimum detectable area instead of guessing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87552" y="1738103"/>
            <a:ext cx="16312896" cy="15603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3"/>
              </a:lnSpc>
            </a:pPr>
            <a:r>
              <a:rPr lang="en-US" sz="4917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Three checks: a real event, a null scene and an uncalibrated region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49998" y="2070954"/>
            <a:ext cx="7100002" cy="319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Exposure is counted and never declared damage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44367" y="635803"/>
            <a:ext cx="6695961" cy="4713037"/>
            <a:chOff x="0" y="0"/>
            <a:chExt cx="8927948" cy="62840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927973" cy="6284087"/>
            </a:xfrm>
            <a:custGeom>
              <a:avLst/>
              <a:gdLst/>
              <a:ahLst/>
              <a:cxnLst/>
              <a:rect r="r" b="b" t="t" l="l"/>
              <a:pathLst>
                <a:path h="6284087" w="8927973">
                  <a:moveTo>
                    <a:pt x="0" y="0"/>
                  </a:moveTo>
                  <a:lnTo>
                    <a:pt x="8927973" y="0"/>
                  </a:lnTo>
                  <a:lnTo>
                    <a:pt x="8927973" y="6284087"/>
                  </a:lnTo>
                  <a:lnTo>
                    <a:pt x="0" y="6284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87552" y="494481"/>
            <a:ext cx="8156448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80208" y="494481"/>
            <a:ext cx="1920240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09 / 13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7552" y="1291590"/>
            <a:ext cx="7177678" cy="2004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2"/>
              </a:lnSpc>
            </a:pPr>
            <a:r>
              <a:rPr lang="en-US" sz="4079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The cut-off count holds between 2 and 12 across 18 scenarios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87552" y="3112637"/>
            <a:ext cx="7177678" cy="1596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Three thresholds times mask plus or minus one pixel times bridges failing or surviving. Dark bar is the headline.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emsr927_AOI03_overlay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14814" r="0" b="-7725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3568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87552" y="494481"/>
            <a:ext cx="8156448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380208" y="494481"/>
            <a:ext cx="1920240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10 / 13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7552" y="4459862"/>
            <a:ext cx="13050317" cy="1980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91"/>
              </a:lnSpc>
            </a:pPr>
            <a:r>
              <a:rPr lang="en-US" sz="6396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Validation is honest about what it cannot show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87552" y="6537465"/>
            <a:ext cx="8972093" cy="12211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8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EMS products are read only for checking and never tune the detector.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87552" y="3350000"/>
            <a:ext cx="2700004" cy="460000"/>
            <a:chOff x="0" y="0"/>
            <a:chExt cx="3600005" cy="61333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599942" cy="613283"/>
            </a:xfrm>
            <a:custGeom>
              <a:avLst/>
              <a:gdLst/>
              <a:ahLst/>
              <a:cxnLst/>
              <a:rect r="r" b="b" t="t" l="l"/>
              <a:pathLst>
                <a:path h="613283" w="3599942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3446653" y="0"/>
                  </a:lnTo>
                  <a:cubicBezTo>
                    <a:pt x="3531362" y="0"/>
                    <a:pt x="3599942" y="68707"/>
                    <a:pt x="3599942" y="153289"/>
                  </a:cubicBezTo>
                  <a:lnTo>
                    <a:pt x="3599942" y="459994"/>
                  </a:lnTo>
                  <a:cubicBezTo>
                    <a:pt x="3599942" y="544703"/>
                    <a:pt x="3531235" y="613283"/>
                    <a:pt x="3446653" y="613283"/>
                  </a:cubicBezTo>
                  <a:lnTo>
                    <a:pt x="153289" y="613283"/>
                  </a:lnTo>
                  <a:cubicBezTo>
                    <a:pt x="68707" y="613283"/>
                    <a:pt x="0" y="544703"/>
                    <a:pt x="0" y="459994"/>
                  </a:cubicBezTo>
                  <a:close/>
                </a:path>
              </a:pathLst>
            </a:custGeom>
            <a:solidFill>
              <a:srgbClr val="293139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87552" y="3435477"/>
            <a:ext cx="2700004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spc="10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Precision 0.93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3937549" y="3350000"/>
            <a:ext cx="4300004" cy="460000"/>
            <a:chOff x="0" y="0"/>
            <a:chExt cx="5733339" cy="61333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733288" cy="613283"/>
            </a:xfrm>
            <a:custGeom>
              <a:avLst/>
              <a:gdLst/>
              <a:ahLst/>
              <a:cxnLst/>
              <a:rect r="r" b="b" t="t" l="l"/>
              <a:pathLst>
                <a:path h="613283" w="5733288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5579999" y="0"/>
                  </a:lnTo>
                  <a:cubicBezTo>
                    <a:pt x="5664708" y="0"/>
                    <a:pt x="5733288" y="68707"/>
                    <a:pt x="5733288" y="153289"/>
                  </a:cubicBezTo>
                  <a:lnTo>
                    <a:pt x="5733288" y="459994"/>
                  </a:lnTo>
                  <a:cubicBezTo>
                    <a:pt x="5733288" y="544703"/>
                    <a:pt x="5664581" y="613283"/>
                    <a:pt x="5579999" y="613283"/>
                  </a:cubicBezTo>
                  <a:lnTo>
                    <a:pt x="153289" y="613283"/>
                  </a:lnTo>
                  <a:cubicBezTo>
                    <a:pt x="68707" y="613283"/>
                    <a:pt x="0" y="544703"/>
                    <a:pt x="0" y="459994"/>
                  </a:cubicBezTo>
                  <a:close/>
                </a:path>
              </a:pathLst>
            </a:custGeom>
            <a:solidFill>
              <a:srgbClr val="293139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3937549" y="3435477"/>
            <a:ext cx="4300004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spc="10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Recall 0.17 (Bidur, hold-out)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87552" y="7979997"/>
            <a:ext cx="419995" cy="219999"/>
            <a:chOff x="0" y="0"/>
            <a:chExt cx="559994" cy="29333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59943" cy="293370"/>
            </a:xfrm>
            <a:custGeom>
              <a:avLst/>
              <a:gdLst/>
              <a:ahLst/>
              <a:cxnLst/>
              <a:rect r="r" b="b" t="t" l="l"/>
              <a:pathLst>
                <a:path h="293370" w="559943">
                  <a:moveTo>
                    <a:pt x="0" y="0"/>
                  </a:moveTo>
                  <a:lnTo>
                    <a:pt x="559943" y="0"/>
                  </a:lnTo>
                  <a:lnTo>
                    <a:pt x="559943" y="293370"/>
                  </a:lnTo>
                  <a:lnTo>
                    <a:pt x="0" y="293370"/>
                  </a:lnTo>
                  <a:close/>
                </a:path>
              </a:pathLst>
            </a:custGeom>
            <a:solidFill>
              <a:srgbClr val="F5B461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560004" y="7940478"/>
            <a:ext cx="5999998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spc="105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EMSR927 landslide polygons (reference)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73265" y="8365712"/>
            <a:ext cx="228571" cy="248574"/>
            <a:chOff x="0" y="0"/>
            <a:chExt cx="304762" cy="33143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04800" cy="331470"/>
            </a:xfrm>
            <a:custGeom>
              <a:avLst/>
              <a:gdLst/>
              <a:ahLst/>
              <a:cxnLst/>
              <a:rect r="r" b="b" t="t" l="l"/>
              <a:pathLst>
                <a:path h="331470" w="304800">
                  <a:moveTo>
                    <a:pt x="0" y="0"/>
                  </a:moveTo>
                  <a:lnTo>
                    <a:pt x="304800" y="0"/>
                  </a:lnTo>
                  <a:lnTo>
                    <a:pt x="304800" y="331470"/>
                  </a:lnTo>
                  <a:lnTo>
                    <a:pt x="0" y="33147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9520" t="0" r="-89507" b="11"/>
              </a:stretch>
            </a:blipFill>
            <a:ln w="28575" cap="sq">
              <a:solidFill>
                <a:srgbClr val="22D3EE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193263" y="8365712"/>
            <a:ext cx="228571" cy="248574"/>
            <a:chOff x="0" y="0"/>
            <a:chExt cx="304762" cy="33143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04800" cy="331470"/>
            </a:xfrm>
            <a:custGeom>
              <a:avLst/>
              <a:gdLst/>
              <a:ahLst/>
              <a:cxnLst/>
              <a:rect r="r" b="b" t="t" l="l"/>
              <a:pathLst>
                <a:path h="331470" w="304800">
                  <a:moveTo>
                    <a:pt x="0" y="0"/>
                  </a:moveTo>
                  <a:lnTo>
                    <a:pt x="304800" y="0"/>
                  </a:lnTo>
                  <a:lnTo>
                    <a:pt x="304800" y="331470"/>
                  </a:lnTo>
                  <a:lnTo>
                    <a:pt x="0" y="33147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9520" t="0" r="-89507" b="11"/>
              </a:stretch>
            </a:blipFill>
            <a:ln w="28575" cap="sq">
              <a:solidFill>
                <a:srgbClr val="D946EF"/>
              </a:solidFill>
              <a:prstDash val="solid"/>
              <a:miter/>
            </a:ln>
          </p:spPr>
        </p:sp>
      </p:grpSp>
      <p:sp>
        <p:nvSpPr>
          <p:cNvPr name="TextBox 25" id="25"/>
          <p:cNvSpPr txBox="true"/>
          <p:nvPr/>
        </p:nvSpPr>
        <p:spPr>
          <a:xfrm rot="0">
            <a:off x="1560004" y="8340471"/>
            <a:ext cx="4000005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spc="105">
                <a:solidFill>
                  <a:srgbClr val="DCE6EE"/>
                </a:solidFill>
                <a:latin typeface="Inter"/>
                <a:ea typeface="Inter"/>
                <a:cs typeface="Inter"/>
                <a:sym typeface="Inter"/>
              </a:rPr>
              <a:t>Our detections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87552" y="9499997"/>
            <a:ext cx="12000005" cy="23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spc="104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Landslide polygons only, no flood-extent layer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87552" y="4966745"/>
            <a:ext cx="16312896" cy="20574"/>
            <a:chOff x="0" y="0"/>
            <a:chExt cx="21750528" cy="274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750528" cy="27432"/>
            </a:xfrm>
            <a:custGeom>
              <a:avLst/>
              <a:gdLst/>
              <a:ahLst/>
              <a:cxnLst/>
              <a:rect r="r" b="b" t="t" l="l"/>
              <a:pathLst>
                <a:path h="27432" w="21750528">
                  <a:moveTo>
                    <a:pt x="0" y="0"/>
                  </a:moveTo>
                  <a:lnTo>
                    <a:pt x="21750528" y="0"/>
                  </a:lnTo>
                  <a:lnTo>
                    <a:pt x="21750528" y="27432"/>
                  </a:lnTo>
                  <a:lnTo>
                    <a:pt x="0" y="27432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87552" y="494481"/>
            <a:ext cx="8156448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80208" y="494481"/>
            <a:ext cx="1920240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11 / 13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7552" y="1673628"/>
            <a:ext cx="11745287" cy="2831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70"/>
              </a:lnSpc>
            </a:pPr>
            <a:r>
              <a:rPr lang="en-US" sz="6000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Detections land on EMS landslides at high precision but low recall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87552" y="4563266"/>
            <a:ext cx="3043123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EMSR927 AREA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250131" y="4563266"/>
            <a:ext cx="3043123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PRECISION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512710" y="4563266"/>
            <a:ext cx="3043123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RECALL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775290" y="4563266"/>
            <a:ext cx="3043123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IOU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037869" y="4563266"/>
            <a:ext cx="3043123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DAMAGE POINTS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7552" y="5090951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Bidur (hold-out)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250131" y="5090951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0.93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512710" y="5090951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0.17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775290" y="5090951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0.17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037869" y="5090951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Chance-level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87552" y="6125137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Phosretar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250131" y="6125137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0.99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512710" y="6125137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0.24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775290" y="6125137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0.24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037869" y="6125137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Chance-level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87552" y="7159323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Syapru Besi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50131" y="7159323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n/a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512710" y="7159323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n/a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775290" y="7159323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n/a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037869" y="7159323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Not scored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87552" y="8193510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Timure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250131" y="8193510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n/a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512710" y="8193510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n/a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775290" y="8193510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n/a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037869" y="8193510"/>
            <a:ext cx="3043123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Not scored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87552" y="5189706"/>
            <a:ext cx="1565910" cy="27432"/>
            <a:chOff x="0" y="0"/>
            <a:chExt cx="2087880" cy="3657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87880" cy="36576"/>
            </a:xfrm>
            <a:custGeom>
              <a:avLst/>
              <a:gdLst/>
              <a:ahLst/>
              <a:cxnLst/>
              <a:rect r="r" b="b" t="t" l="l"/>
              <a:pathLst>
                <a:path h="36576" w="2087880">
                  <a:moveTo>
                    <a:pt x="0" y="0"/>
                  </a:moveTo>
                  <a:lnTo>
                    <a:pt x="2087880" y="0"/>
                  </a:lnTo>
                  <a:lnTo>
                    <a:pt x="2087880" y="36576"/>
                  </a:lnTo>
                  <a:lnTo>
                    <a:pt x="0" y="36576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182362" y="5189706"/>
            <a:ext cx="1565910" cy="27432"/>
            <a:chOff x="0" y="0"/>
            <a:chExt cx="2087880" cy="365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7880" cy="36576"/>
            </a:xfrm>
            <a:custGeom>
              <a:avLst/>
              <a:gdLst/>
              <a:ahLst/>
              <a:cxnLst/>
              <a:rect r="r" b="b" t="t" l="l"/>
              <a:pathLst>
                <a:path h="36576" w="2087880">
                  <a:moveTo>
                    <a:pt x="0" y="0"/>
                  </a:moveTo>
                  <a:lnTo>
                    <a:pt x="2087880" y="0"/>
                  </a:lnTo>
                  <a:lnTo>
                    <a:pt x="2087880" y="36576"/>
                  </a:lnTo>
                  <a:lnTo>
                    <a:pt x="0" y="36576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377172" y="5189706"/>
            <a:ext cx="1565910" cy="27432"/>
            <a:chOff x="0" y="0"/>
            <a:chExt cx="2087880" cy="365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7880" cy="36576"/>
            </a:xfrm>
            <a:custGeom>
              <a:avLst/>
              <a:gdLst/>
              <a:ahLst/>
              <a:cxnLst/>
              <a:rect r="r" b="b" t="t" l="l"/>
              <a:pathLst>
                <a:path h="36576" w="2087880">
                  <a:moveTo>
                    <a:pt x="0" y="0"/>
                  </a:moveTo>
                  <a:lnTo>
                    <a:pt x="2087880" y="0"/>
                  </a:lnTo>
                  <a:lnTo>
                    <a:pt x="2087880" y="36576"/>
                  </a:lnTo>
                  <a:lnTo>
                    <a:pt x="0" y="36576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3571982" y="5189706"/>
            <a:ext cx="1565910" cy="27432"/>
            <a:chOff x="0" y="0"/>
            <a:chExt cx="2087880" cy="365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87880" cy="36576"/>
            </a:xfrm>
            <a:custGeom>
              <a:avLst/>
              <a:gdLst/>
              <a:ahLst/>
              <a:cxnLst/>
              <a:rect r="r" b="b" t="t" l="l"/>
              <a:pathLst>
                <a:path h="36576" w="2087880">
                  <a:moveTo>
                    <a:pt x="0" y="0"/>
                  </a:moveTo>
                  <a:lnTo>
                    <a:pt x="2087880" y="0"/>
                  </a:lnTo>
                  <a:lnTo>
                    <a:pt x="2087880" y="36576"/>
                  </a:lnTo>
                  <a:lnTo>
                    <a:pt x="0" y="36576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87552" y="494481"/>
            <a:ext cx="8156448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380208" y="494481"/>
            <a:ext cx="1920240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12 / 13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7552" y="2797578"/>
            <a:ext cx="11745287" cy="1849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70"/>
              </a:lnSpc>
            </a:pPr>
            <a:r>
              <a:rPr lang="en-US" sz="6000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Four limits bound what these numbers can claim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87552" y="4770996"/>
            <a:ext cx="3728466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ROUTE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87552" y="5313912"/>
            <a:ext cx="3728466" cy="2096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Planetary Computer RTC is a cross-check only. SNAP is the route of record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182362" y="4770996"/>
            <a:ext cx="3728466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TERAI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182362" y="5313912"/>
            <a:ext cx="3728466" cy="1596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Uncalibrated with a 17.37 km² minimum detectable area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377172" y="4770996"/>
            <a:ext cx="3728466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EVIDENCE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377172" y="5313912"/>
            <a:ext cx="3728466" cy="2597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Himalayan chips are qualitative and unlabelled. Sentinel-2 does not confirm open water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571982" y="4770996"/>
            <a:ext cx="3728466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SCOPE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71982" y="5313912"/>
            <a:ext cx="3728466" cy="2038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One track and one post scene. No imagery of victims anywhere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4814" cy="10287000"/>
            <a:chOff x="0" y="0"/>
            <a:chExt cx="553085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308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53085">
                  <a:moveTo>
                    <a:pt x="0" y="0"/>
                  </a:moveTo>
                  <a:lnTo>
                    <a:pt x="553085" y="0"/>
                  </a:lnTo>
                  <a:lnTo>
                    <a:pt x="553085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87552" y="2183587"/>
            <a:ext cx="1508760" cy="38386"/>
            <a:chOff x="0" y="0"/>
            <a:chExt cx="2011680" cy="5118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11680" cy="51181"/>
            </a:xfrm>
            <a:custGeom>
              <a:avLst/>
              <a:gdLst/>
              <a:ahLst/>
              <a:cxnLst/>
              <a:rect r="r" b="b" t="t" l="l"/>
              <a:pathLst>
                <a:path h="51181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51181"/>
                  </a:lnTo>
                  <a:lnTo>
                    <a:pt x="0" y="51181"/>
                  </a:lnTo>
                  <a:close/>
                </a:path>
              </a:pathLst>
            </a:custGeom>
            <a:solidFill>
              <a:srgbClr val="4BC7D6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87552" y="494481"/>
            <a:ext cx="8156448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80208" y="494481"/>
            <a:ext cx="1920240" cy="300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8"/>
              </a:lnSpc>
            </a:pPr>
            <a:r>
              <a:rPr lang="en-US" sz="165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13 / 13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7552" y="2630881"/>
            <a:ext cx="12071547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TRY IT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87552" y="3109036"/>
            <a:ext cx="12071547" cy="1980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91"/>
              </a:lnSpc>
            </a:pPr>
            <a:r>
              <a:rPr lang="en-US" sz="6396" b="true">
                <a:solidFill>
                  <a:srgbClr val="DCE6EE"/>
                </a:solidFill>
                <a:latin typeface="Arimo Bold"/>
                <a:ea typeface="Arimo Bold"/>
                <a:cs typeface="Arimo Bold"/>
                <a:sym typeface="Arimo Bold"/>
              </a:rPr>
              <a:t>Run it on any area and date from the public repo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7552" y="5186629"/>
            <a:ext cx="8972093" cy="1752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8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README and docs/REPORT.pdf hold the method and validation. Every input is free and open.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30268" y="7938707"/>
            <a:ext cx="4980432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CODE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30268" y="8177403"/>
            <a:ext cx="4980432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Public GitHub repo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653784" y="7908798"/>
            <a:ext cx="4980432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DATA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53784" y="8177403"/>
            <a:ext cx="4980432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Sentinel-1, GLO-30 DEM, OSM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320016" y="7908798"/>
            <a:ext cx="4980432" cy="33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8"/>
              </a:lnSpc>
            </a:pPr>
            <a:r>
              <a:rPr lang="en-US" sz="1650" spc="105">
                <a:solidFill>
                  <a:srgbClr val="4BC7D6"/>
                </a:solidFill>
                <a:latin typeface="Inter"/>
                <a:ea typeface="Inter"/>
                <a:cs typeface="Inter"/>
                <a:sym typeface="Inter"/>
              </a:rPr>
              <a:t>CREDIT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320016" y="8177403"/>
            <a:ext cx="4980432" cy="59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>
                <a:solidFill>
                  <a:srgbClr val="8DA0AE"/>
                </a:solidFill>
                <a:latin typeface="Arimo"/>
                <a:ea typeface="Arimo"/>
                <a:cs typeface="Arimo"/>
                <a:sym typeface="Arimo"/>
              </a:rPr>
              <a:t>Copernicus EMS data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30268" y="8752380"/>
            <a:ext cx="5249999" cy="11945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250" u="sng">
                <a:solidFill>
                  <a:srgbClr val="0000FF"/>
                </a:solidFill>
                <a:latin typeface="Arimo"/>
                <a:ea typeface="Arimo"/>
                <a:cs typeface="Arimo"/>
                <a:sym typeface="Arimo"/>
                <a:hlinkClick r:id="rId2" tooltip="https://github.com/MANIKANTH678/trishuli-flood-mapping"/>
              </a:rPr>
              <a:t>https://github.com/MANIKANTH678/</a:t>
            </a:r>
          </a:p>
          <a:p>
            <a:pPr algn="l">
              <a:lnSpc>
                <a:spcPts val="3042"/>
              </a:lnSpc>
            </a:pPr>
            <a:r>
              <a:rPr lang="en-US" sz="2250" u="sng">
                <a:solidFill>
                  <a:srgbClr val="0000FF"/>
                </a:solidFill>
                <a:latin typeface="Arimo"/>
                <a:ea typeface="Arimo"/>
                <a:cs typeface="Arimo"/>
                <a:sym typeface="Arimo"/>
                <a:hlinkClick r:id="rId3" tooltip="https://github.com/MANIKANTH678/trishuli-flood-mapping"/>
              </a:rPr>
              <a:t>trishuli-flood-mapping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000452" y="2179996"/>
            <a:ext cx="5299996" cy="3854548"/>
            <a:chOff x="0" y="0"/>
            <a:chExt cx="7066661" cy="5139398"/>
          </a:xfrm>
        </p:grpSpPr>
        <p:sp>
          <p:nvSpPr>
            <p:cNvPr name="Freeform 19" id="19" descr="dashboard.png"/>
            <p:cNvSpPr/>
            <p:nvPr/>
          </p:nvSpPr>
          <p:spPr>
            <a:xfrm flipH="false" flipV="false" rot="0">
              <a:off x="0" y="0"/>
              <a:ext cx="7066661" cy="5139436"/>
            </a:xfrm>
            <a:custGeom>
              <a:avLst/>
              <a:gdLst/>
              <a:ahLst/>
              <a:cxnLst/>
              <a:rect r="r" b="b" t="t" l="l"/>
              <a:pathLst>
                <a:path h="5139436" w="7066661">
                  <a:moveTo>
                    <a:pt x="0" y="0"/>
                  </a:moveTo>
                  <a:lnTo>
                    <a:pt x="7066661" y="0"/>
                  </a:lnTo>
                  <a:lnTo>
                    <a:pt x="7066661" y="5139436"/>
                  </a:lnTo>
                  <a:lnTo>
                    <a:pt x="0" y="51394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2000452" y="6175019"/>
            <a:ext cx="5299996" cy="263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spc="105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Offline dashboard, OpenStreetMap basemap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1620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/>
          <p:nvPr/>
        </p:nvSpPr>
        <p:spPr>
          <a:xfrm>
            <a:off x="0" y="0"/>
            <a:ext cx="414814" cy="10287000"/>
          </a:xfrm>
          <a:custGeom>
            <a:rect b="b" l="l" r="r" t="t"/>
            <a:pathLst>
              <a:path extrusionOk="0" h="13716000" w="553085">
                <a:moveTo>
                  <a:pt x="0" y="0"/>
                </a:moveTo>
                <a:lnTo>
                  <a:pt x="553085" y="0"/>
                </a:lnTo>
                <a:lnTo>
                  <a:pt x="553085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4BC7D6"/>
          </a:solidFill>
          <a:ln>
            <a:noFill/>
          </a:ln>
        </p:spPr>
      </p:sp>
      <p:cxnSp>
        <p:nvCxnSpPr>
          <p:cNvPr id="52" name="Google Shape;52;p1"/>
          <p:cNvCxnSpPr/>
          <p:nvPr/>
        </p:nvCxnSpPr>
        <p:spPr>
          <a:xfrm>
            <a:off x="3054467" y="4211128"/>
            <a:ext cx="1290900" cy="0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3" name="Google Shape;53;p1"/>
          <p:cNvSpPr/>
          <p:nvPr/>
        </p:nvSpPr>
        <p:spPr>
          <a:xfrm>
            <a:off x="705276" y="3240655"/>
            <a:ext cx="2349191" cy="1902845"/>
          </a:xfrm>
          <a:custGeom>
            <a:rect b="b" l="l" r="r" t="t"/>
            <a:pathLst>
              <a:path extrusionOk="0" h="1902845" w="2349191">
                <a:moveTo>
                  <a:pt x="0" y="0"/>
                </a:moveTo>
                <a:lnTo>
                  <a:pt x="2349191" y="0"/>
                </a:lnTo>
                <a:lnTo>
                  <a:pt x="2349191" y="1902845"/>
                </a:lnTo>
                <a:lnTo>
                  <a:pt x="0" y="19028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1"/>
          <p:cNvSpPr/>
          <p:nvPr/>
        </p:nvSpPr>
        <p:spPr>
          <a:xfrm>
            <a:off x="4631092" y="3450040"/>
            <a:ext cx="1245084" cy="1245084"/>
          </a:xfrm>
          <a:custGeom>
            <a:rect b="b" l="l" r="r" t="t"/>
            <a:pathLst>
              <a:path extrusionOk="0" h="1245084" w="1245084">
                <a:moveTo>
                  <a:pt x="0" y="0"/>
                </a:moveTo>
                <a:lnTo>
                  <a:pt x="1245084" y="0"/>
                </a:lnTo>
                <a:lnTo>
                  <a:pt x="1245084" y="1245084"/>
                </a:lnTo>
                <a:lnTo>
                  <a:pt x="0" y="12450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5" name="Google Shape;55;p1"/>
          <p:cNvCxnSpPr/>
          <p:nvPr/>
        </p:nvCxnSpPr>
        <p:spPr>
          <a:xfrm>
            <a:off x="6161926" y="4230178"/>
            <a:ext cx="1290900" cy="0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6" name="Google Shape;56;p1"/>
          <p:cNvCxnSpPr/>
          <p:nvPr/>
        </p:nvCxnSpPr>
        <p:spPr>
          <a:xfrm>
            <a:off x="9269385" y="4249228"/>
            <a:ext cx="1290900" cy="0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id="57" name="Google Shape;57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62982" y="3365462"/>
            <a:ext cx="1520698" cy="161175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8" name="Google Shape;58;p1"/>
          <p:cNvCxnSpPr/>
          <p:nvPr/>
        </p:nvCxnSpPr>
        <p:spPr>
          <a:xfrm>
            <a:off x="12705890" y="4268278"/>
            <a:ext cx="1290900" cy="0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9" name="Google Shape;59;p1"/>
          <p:cNvSpPr/>
          <p:nvPr/>
        </p:nvSpPr>
        <p:spPr>
          <a:xfrm>
            <a:off x="14261152" y="3360756"/>
            <a:ext cx="1059737" cy="1482150"/>
          </a:xfrm>
          <a:custGeom>
            <a:rect b="b" l="l" r="r" t="t"/>
            <a:pathLst>
              <a:path extrusionOk="0" h="1482150" w="1059737">
                <a:moveTo>
                  <a:pt x="0" y="0"/>
                </a:moveTo>
                <a:lnTo>
                  <a:pt x="1059737" y="0"/>
                </a:lnTo>
                <a:lnTo>
                  <a:pt x="1059737" y="1482150"/>
                </a:lnTo>
                <a:lnTo>
                  <a:pt x="0" y="1482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" name="Google Shape;60;p1"/>
          <p:cNvCxnSpPr/>
          <p:nvPr/>
        </p:nvCxnSpPr>
        <p:spPr>
          <a:xfrm>
            <a:off x="14810071" y="6214901"/>
            <a:ext cx="0" cy="1256100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id="61" name="Google Shape;61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3998181" y="7326850"/>
            <a:ext cx="1585680" cy="173039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p1"/>
          <p:cNvCxnSpPr/>
          <p:nvPr/>
        </p:nvCxnSpPr>
        <p:spPr>
          <a:xfrm rot="10800000">
            <a:off x="12149341" y="8103189"/>
            <a:ext cx="1290900" cy="0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3" name="Google Shape;63;p1"/>
          <p:cNvSpPr/>
          <p:nvPr/>
        </p:nvSpPr>
        <p:spPr>
          <a:xfrm>
            <a:off x="10061990" y="7286934"/>
            <a:ext cx="1670610" cy="1670610"/>
          </a:xfrm>
          <a:custGeom>
            <a:rect b="b" l="l" r="r" t="t"/>
            <a:pathLst>
              <a:path extrusionOk="0" h="1670610" w="1670610">
                <a:moveTo>
                  <a:pt x="0" y="0"/>
                </a:moveTo>
                <a:lnTo>
                  <a:pt x="1670610" y="0"/>
                </a:lnTo>
                <a:lnTo>
                  <a:pt x="1670610" y="1670610"/>
                </a:lnTo>
                <a:lnTo>
                  <a:pt x="0" y="16706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"/>
          <p:cNvSpPr/>
          <p:nvPr/>
        </p:nvSpPr>
        <p:spPr>
          <a:xfrm>
            <a:off x="5700744" y="7471049"/>
            <a:ext cx="1162654" cy="1500199"/>
          </a:xfrm>
          <a:custGeom>
            <a:rect b="b" l="l" r="r" t="t"/>
            <a:pathLst>
              <a:path extrusionOk="0" h="1500199" w="1162654">
                <a:moveTo>
                  <a:pt x="0" y="0"/>
                </a:moveTo>
                <a:lnTo>
                  <a:pt x="1162654" y="0"/>
                </a:lnTo>
                <a:lnTo>
                  <a:pt x="1162654" y="1500198"/>
                </a:lnTo>
                <a:lnTo>
                  <a:pt x="0" y="1500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"/>
          <p:cNvSpPr txBox="1"/>
          <p:nvPr/>
        </p:nvSpPr>
        <p:spPr>
          <a:xfrm>
            <a:off x="987552" y="504006"/>
            <a:ext cx="8156400" cy="2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l">
              <a:lnSpc>
                <a:spcPct val="1169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TRISHULI-FLOOD-MAPPING</a:t>
            </a:r>
            <a:endParaRPr/>
          </a:p>
        </p:txBody>
      </p:sp>
      <p:sp>
        <p:nvSpPr>
          <p:cNvPr id="66" name="Google Shape;66;p1"/>
          <p:cNvSpPr txBox="1"/>
          <p:nvPr/>
        </p:nvSpPr>
        <p:spPr>
          <a:xfrm>
            <a:off x="15380208" y="504006"/>
            <a:ext cx="1920300" cy="2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r">
              <a:lnSpc>
                <a:spcPct val="1169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8DA0AE"/>
                </a:solidFill>
                <a:latin typeface="Inter"/>
                <a:ea typeface="Inter"/>
                <a:cs typeface="Inter"/>
                <a:sym typeface="Inter"/>
              </a:rPr>
              <a:t>02 / 13</a:t>
            </a:r>
            <a:endParaRPr/>
          </a:p>
        </p:txBody>
      </p:sp>
      <p:sp>
        <p:nvSpPr>
          <p:cNvPr id="67" name="Google Shape;67;p1"/>
          <p:cNvSpPr txBox="1"/>
          <p:nvPr/>
        </p:nvSpPr>
        <p:spPr>
          <a:xfrm>
            <a:off x="974774" y="1193426"/>
            <a:ext cx="12039000" cy="20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l">
              <a:lnSpc>
                <a:spcPct val="1061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150">
                <a:solidFill>
                  <a:srgbClr val="DCE6EE"/>
                </a:solidFill>
                <a:latin typeface="Arimo"/>
                <a:ea typeface="Arimo"/>
                <a:cs typeface="Arimo"/>
                <a:sym typeface="Arimo"/>
              </a:rPr>
              <a:t>From raw radar to sitrep: the pipeline</a:t>
            </a:r>
            <a:endParaRPr/>
          </a:p>
        </p:txBody>
      </p:sp>
      <p:cxnSp>
        <p:nvCxnSpPr>
          <p:cNvPr id="68" name="Google Shape;68;p1"/>
          <p:cNvCxnSpPr/>
          <p:nvPr/>
        </p:nvCxnSpPr>
        <p:spPr>
          <a:xfrm rot="10800000">
            <a:off x="8210606" y="8240198"/>
            <a:ext cx="1290900" cy="0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9" name="Google Shape;69;p1"/>
          <p:cNvSpPr txBox="1"/>
          <p:nvPr/>
        </p:nvSpPr>
        <p:spPr>
          <a:xfrm>
            <a:off x="1028700" y="5273539"/>
            <a:ext cx="20259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RAW S1 GRD</a:t>
            </a:r>
            <a:endParaRPr/>
          </a:p>
        </p:txBody>
      </p:sp>
      <p:sp>
        <p:nvSpPr>
          <p:cNvPr id="70" name="Google Shape;70;p1"/>
          <p:cNvSpPr txBox="1"/>
          <p:nvPr/>
        </p:nvSpPr>
        <p:spPr>
          <a:xfrm>
            <a:off x="4052892" y="5058741"/>
            <a:ext cx="20259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89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SNAP SIGMA0</a:t>
            </a:r>
            <a:endParaRPr/>
          </a:p>
          <a:p>
            <a:pPr indent="0" lvl="0" marL="0" marR="0" rtl="0" algn="ctr">
              <a:lnSpc>
                <a:spcPct val="116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8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1"/>
          <p:cNvSpPr txBox="1"/>
          <p:nvPr/>
        </p:nvSpPr>
        <p:spPr>
          <a:xfrm>
            <a:off x="7088246" y="5042335"/>
            <a:ext cx="20259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ROBUST-Z CHANGE</a:t>
            </a:r>
            <a:endParaRPr/>
          </a:p>
        </p:txBody>
      </p:sp>
      <p:sp>
        <p:nvSpPr>
          <p:cNvPr id="72" name="Google Shape;72;p1"/>
          <p:cNvSpPr txBox="1"/>
          <p:nvPr/>
        </p:nvSpPr>
        <p:spPr>
          <a:xfrm>
            <a:off x="10123599" y="5156398"/>
            <a:ext cx="20259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CHANGE CLASSES</a:t>
            </a:r>
            <a:endParaRPr/>
          </a:p>
        </p:txBody>
      </p:sp>
      <p:sp>
        <p:nvSpPr>
          <p:cNvPr id="73" name="Google Shape;73;p1"/>
          <p:cNvSpPr txBox="1"/>
          <p:nvPr/>
        </p:nvSpPr>
        <p:spPr>
          <a:xfrm>
            <a:off x="13761364" y="5172821"/>
            <a:ext cx="20259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v7 U-NET</a:t>
            </a:r>
            <a:endParaRPr/>
          </a:p>
        </p:txBody>
      </p:sp>
      <p:sp>
        <p:nvSpPr>
          <p:cNvPr id="74" name="Google Shape;74;p1"/>
          <p:cNvSpPr txBox="1"/>
          <p:nvPr/>
        </p:nvSpPr>
        <p:spPr>
          <a:xfrm>
            <a:off x="5269188" y="9150000"/>
            <a:ext cx="20259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EN/NE SITREP</a:t>
            </a:r>
            <a:endParaRPr/>
          </a:p>
        </p:txBody>
      </p:sp>
      <p:sp>
        <p:nvSpPr>
          <p:cNvPr id="75" name="Google Shape;75;p1"/>
          <p:cNvSpPr txBox="1"/>
          <p:nvPr/>
        </p:nvSpPr>
        <p:spPr>
          <a:xfrm>
            <a:off x="9884412" y="9150000"/>
            <a:ext cx="20259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ROAD GRAPH</a:t>
            </a:r>
            <a:endParaRPr/>
          </a:p>
        </p:txBody>
      </p:sp>
      <p:sp>
        <p:nvSpPr>
          <p:cNvPr id="76" name="Google Shape;76;p1"/>
          <p:cNvSpPr txBox="1"/>
          <p:nvPr/>
        </p:nvSpPr>
        <p:spPr>
          <a:xfrm>
            <a:off x="13778138" y="9150000"/>
            <a:ext cx="20259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PRE-EVENT OSM</a:t>
            </a:r>
            <a:endParaRPr/>
          </a:p>
        </p:txBody>
      </p:sp>
      <p:sp>
        <p:nvSpPr>
          <p:cNvPr id="77" name="Google Shape;77;p1"/>
          <p:cNvSpPr txBox="1"/>
          <p:nvPr/>
        </p:nvSpPr>
        <p:spPr>
          <a:xfrm>
            <a:off x="1111748" y="5818931"/>
            <a:ext cx="20259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Sentinel-1, same track</a:t>
            </a:r>
            <a:endParaRPr/>
          </a:p>
        </p:txBody>
      </p:sp>
      <p:sp>
        <p:nvSpPr>
          <p:cNvPr id="78" name="Google Shape;78;p1"/>
          <p:cNvSpPr txBox="1"/>
          <p:nvPr/>
        </p:nvSpPr>
        <p:spPr>
          <a:xfrm>
            <a:off x="3765775" y="5832628"/>
            <a:ext cx="26001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orbit, noise, sigma0, 30 m grid</a:t>
            </a:r>
            <a:endParaRPr/>
          </a:p>
        </p:txBody>
      </p:sp>
      <p:sp>
        <p:nvSpPr>
          <p:cNvPr id="79" name="Google Shape;79;p1"/>
          <p:cNvSpPr txBox="1"/>
          <p:nvPr/>
        </p:nvSpPr>
        <p:spPr>
          <a:xfrm>
            <a:off x="6997208" y="5925096"/>
            <a:ext cx="20259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 pre-event refs, null-run gates, never EMS</a:t>
            </a:r>
            <a:endParaRPr/>
          </a:p>
        </p:txBody>
      </p:sp>
      <p:sp>
        <p:nvSpPr>
          <p:cNvPr id="80" name="Google Shape;80;p1"/>
          <p:cNvSpPr txBox="1"/>
          <p:nvPr/>
        </p:nvSpPr>
        <p:spPr>
          <a:xfrm>
            <a:off x="10316662" y="5896744"/>
            <a:ext cx="20259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water-like, dark, bright</a:t>
            </a:r>
            <a:endParaRPr/>
          </a:p>
        </p:txBody>
      </p:sp>
      <p:sp>
        <p:nvSpPr>
          <p:cNvPr id="81" name="Google Shape;81;p1"/>
          <p:cNvSpPr txBox="1"/>
          <p:nvPr/>
        </p:nvSpPr>
        <p:spPr>
          <a:xfrm>
            <a:off x="13636115" y="5868391"/>
            <a:ext cx="20259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segmentation</a:t>
            </a:r>
            <a:endParaRPr/>
          </a:p>
        </p:txBody>
      </p:sp>
      <p:sp>
        <p:nvSpPr>
          <p:cNvPr id="82" name="Google Shape;82;p1"/>
          <p:cNvSpPr txBox="1"/>
          <p:nvPr/>
        </p:nvSpPr>
        <p:spPr>
          <a:xfrm>
            <a:off x="13778138" y="9480000"/>
            <a:ext cx="20259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27 Jul 2026 snapshot</a:t>
            </a:r>
            <a:endParaRPr/>
          </a:p>
        </p:txBody>
      </p:sp>
      <p:sp>
        <p:nvSpPr>
          <p:cNvPr id="83" name="Google Shape;83;p1"/>
          <p:cNvSpPr txBox="1"/>
          <p:nvPr/>
        </p:nvSpPr>
        <p:spPr>
          <a:xfrm>
            <a:off x="9884412" y="9480000"/>
            <a:ext cx="20259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buildings, roads, bridges, hospitals</a:t>
            </a:r>
            <a:endParaRPr/>
          </a:p>
        </p:txBody>
      </p:sp>
      <p:sp>
        <p:nvSpPr>
          <p:cNvPr id="84" name="Google Shape;84;p1"/>
          <p:cNvSpPr txBox="1"/>
          <p:nvPr/>
        </p:nvSpPr>
        <p:spPr>
          <a:xfrm>
            <a:off x="5269188" y="9480000"/>
            <a:ext cx="20259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ctr">
              <a:lnSpc>
                <a:spcPct val="116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offline dashboard + one-page sitreps</a:t>
            </a:r>
            <a:endParaRPr/>
          </a:p>
        </p:txBody>
      </p:sp>
      <p:sp>
        <p:nvSpPr>
          <p:cNvPr id="85" name="Google Shape;85;p1"/>
          <p:cNvSpPr/>
          <p:nvPr/>
        </p:nvSpPr>
        <p:spPr>
          <a:xfrm>
            <a:off x="7707260" y="3484507"/>
            <a:ext cx="831300" cy="831300"/>
          </a:xfrm>
          <a:prstGeom prst="roundRect">
            <a:avLst>
              <a:gd fmla="val 25000" name="adj"/>
            </a:avLst>
          </a:prstGeom>
          <a:noFill/>
          <a:ln cap="flat" cmpd="sng" w="508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8055927" y="3829224"/>
            <a:ext cx="831300" cy="831300"/>
          </a:xfrm>
          <a:prstGeom prst="roundRect">
            <a:avLst>
              <a:gd fmla="val 25000" name="adj"/>
            </a:avLst>
          </a:prstGeom>
          <a:solidFill>
            <a:srgbClr val="4BC7D6">
              <a:alpha val="54900"/>
            </a:srgbClr>
          </a:solidFill>
          <a:ln cap="flat" cmpd="sng" w="50800">
            <a:solidFill>
              <a:srgbClr val="4BC7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def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b="0" i="0" spc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